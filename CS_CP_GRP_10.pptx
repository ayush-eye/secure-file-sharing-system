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Open Sauce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Open Sauce" charset="1" panose="00000500000000000000"/>
      <p:regular r:id="rId20"/>
    </p:embeddedFont>
    <p:embeddedFont>
      <p:font typeface="Canva Sans Bold" charset="1" panose="020B0803030501040103"/>
      <p:regular r:id="rId21"/>
    </p:embeddedFont>
    <p:embeddedFont>
      <p:font typeface="Open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3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embeddings/oleObject2.bin" Type="http://schemas.openxmlformats.org/officeDocument/2006/relationships/oleObject"/><Relationship Id="rId7" Target="../media/image15.png" Type="http://schemas.openxmlformats.org/officeDocument/2006/relationships/image"/><Relationship Id="rId8" Target="../embeddings/oleObject3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Minimalist Dots Shapes"/>
          <p:cNvSpPr/>
          <p:nvPr/>
        </p:nvSpPr>
        <p:spPr>
          <a:xfrm flipH="false" flipV="false" rot="0">
            <a:off x="16384715" y="9009597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 descr="Abstract Minimalist Dots Shapes"/>
          <p:cNvSpPr/>
          <p:nvPr/>
        </p:nvSpPr>
        <p:spPr>
          <a:xfrm flipH="false" flipV="false" rot="0">
            <a:off x="-2777871" y="-20707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1999" y="1189066"/>
            <a:ext cx="7908899" cy="7908867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13491" t="0" r="-1349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77373" y="2422648"/>
            <a:ext cx="7767627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0"/>
              </a:lnSpc>
            </a:pPr>
            <a:r>
              <a:rPr lang="en-US" b="true" sz="6375" spc="31">
                <a:solidFill>
                  <a:srgbClr val="1C5739"/>
                </a:solidFill>
                <a:latin typeface="Poppins Bold"/>
                <a:ea typeface="Poppins Bold"/>
                <a:cs typeface="Poppins Bold"/>
                <a:sym typeface="Poppins Bold"/>
              </a:rPr>
              <a:t>Blockchain-Based Secure File Ve</a:t>
            </a:r>
            <a:r>
              <a:rPr lang="en-US" b="true" sz="6375" spc="31" strike="noStrike">
                <a:solidFill>
                  <a:srgbClr val="1C5739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6375" spc="31">
                <a:solidFill>
                  <a:srgbClr val="1C5739"/>
                </a:solidFill>
                <a:latin typeface="Poppins Bold"/>
                <a:ea typeface="Poppins Bold"/>
                <a:cs typeface="Poppins Bold"/>
                <a:sym typeface="Poppins Bold"/>
              </a:rPr>
              <a:t>ification and Sharing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7373" y="7041120"/>
            <a:ext cx="776762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b="true" sz="3000">
                <a:solidFill>
                  <a:srgbClr val="1C57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No 10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256123" y="6691312"/>
            <a:ext cx="8384422" cy="0"/>
          </a:xfrm>
          <a:prstGeom prst="line">
            <a:avLst/>
          </a:prstGeom>
          <a:ln cap="flat" w="104775">
            <a:solidFill>
              <a:srgbClr val="1C573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Minimalist Dots Shapes"/>
          <p:cNvSpPr/>
          <p:nvPr/>
        </p:nvSpPr>
        <p:spPr>
          <a:xfrm flipH="false" flipV="false" rot="0">
            <a:off x="15698915" y="8697813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6364194" y="5143500"/>
            <a:ext cx="9525" cy="1362515"/>
          </a:xfrm>
          <a:prstGeom prst="rect">
            <a:avLst/>
          </a:prstGeom>
          <a:solidFill>
            <a:srgbClr val="1C5739">
              <a:alpha val="19608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1914281" y="5143500"/>
            <a:ext cx="9525" cy="1362515"/>
          </a:xfrm>
          <a:prstGeom prst="rect">
            <a:avLst/>
          </a:prstGeom>
          <a:solidFill>
            <a:srgbClr val="1C5739">
              <a:alpha val="19608"/>
            </a:srgbClr>
          </a:solidFill>
        </p:spPr>
      </p:sp>
      <p:sp>
        <p:nvSpPr>
          <p:cNvPr name="TextBox 5" id="5"/>
          <p:cNvSpPr txBox="true"/>
          <p:nvPr/>
        </p:nvSpPr>
        <p:spPr>
          <a:xfrm rot="0">
            <a:off x="3792725" y="2710682"/>
            <a:ext cx="10667220" cy="109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</a:pPr>
            <a:r>
              <a:rPr lang="en-US" sz="7200" spc="705" u="sng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8228" y="5346613"/>
            <a:ext cx="4939643" cy="956289"/>
            <a:chOff x="0" y="0"/>
            <a:chExt cx="6586190" cy="127505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658619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 spc="162">
                  <a:solidFill>
                    <a:srgbClr val="231F2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49907"/>
              <a:ext cx="658619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139" u="none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30042" y="5258707"/>
            <a:ext cx="4627915" cy="956289"/>
            <a:chOff x="0" y="0"/>
            <a:chExt cx="6170554" cy="12750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6170554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 spc="162">
                  <a:solidFill>
                    <a:srgbClr val="231F2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49907"/>
              <a:ext cx="617055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139" u="none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Objective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52104" y="7823249"/>
            <a:ext cx="4939643" cy="956289"/>
            <a:chOff x="0" y="0"/>
            <a:chExt cx="6586190" cy="127505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58619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 spc="162">
                  <a:solidFill>
                    <a:srgbClr val="231F2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49907"/>
              <a:ext cx="658619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139" u="none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Research gaps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10308" y="7823249"/>
            <a:ext cx="4939643" cy="956289"/>
            <a:chOff x="0" y="0"/>
            <a:chExt cx="6586190" cy="127505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658619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 spc="162">
                  <a:solidFill>
                    <a:srgbClr val="231F2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05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49907"/>
              <a:ext cx="658619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139" u="none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Tech Stack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80130" y="5258707"/>
            <a:ext cx="4939643" cy="956289"/>
            <a:chOff x="0" y="0"/>
            <a:chExt cx="6586190" cy="127505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58619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 spc="162">
                  <a:solidFill>
                    <a:srgbClr val="231F2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49907"/>
              <a:ext cx="658619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139" u="none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Literature Review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528002" y="0"/>
            <a:ext cx="19048322" cy="3086100"/>
            <a:chOff x="0" y="0"/>
            <a:chExt cx="5016842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16842" cy="812800"/>
            </a:xfrm>
            <a:custGeom>
              <a:avLst/>
              <a:gdLst/>
              <a:ahLst/>
              <a:cxnLst/>
              <a:rect r="r" b="b" t="t" l="l"/>
              <a:pathLst>
                <a:path h="812800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016842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46471" y="2483815"/>
            <a:ext cx="11759728" cy="1545299"/>
            <a:chOff x="0" y="0"/>
            <a:chExt cx="3977982" cy="5227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77982" cy="522731"/>
            </a:xfrm>
            <a:custGeom>
              <a:avLst/>
              <a:gdLst/>
              <a:ahLst/>
              <a:cxnLst/>
              <a:rect r="r" b="b" t="t" l="l"/>
              <a:pathLst>
                <a:path h="522731" w="3977982">
                  <a:moveTo>
                    <a:pt x="0" y="0"/>
                  </a:moveTo>
                  <a:lnTo>
                    <a:pt x="3977982" y="0"/>
                  </a:lnTo>
                  <a:lnTo>
                    <a:pt x="3977982" y="522731"/>
                  </a:lnTo>
                  <a:lnTo>
                    <a:pt x="0" y="52273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202999" y="2697486"/>
            <a:ext cx="3846671" cy="105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3"/>
              </a:lnSpc>
              <a:spcBef>
                <a:spcPct val="0"/>
              </a:spcBef>
            </a:pPr>
            <a:r>
              <a:rPr lang="en-US" b="true" sz="6610">
                <a:solidFill>
                  <a:srgbClr val="F5FFF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92495" y="7573922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87962" y="5985119"/>
            <a:ext cx="2085109" cy="208510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60220" y="1728186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62642" y="-3904566"/>
            <a:ext cx="8637895" cy="86378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61103" y="1342561"/>
            <a:ext cx="1164616" cy="1910409"/>
            <a:chOff x="0" y="0"/>
            <a:chExt cx="1451520" cy="238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1394587" y="1366393"/>
                  </a:moveTo>
                  <a:lnTo>
                    <a:pt x="395351" y="2365883"/>
                  </a:lnTo>
                  <a:cubicBezTo>
                    <a:pt x="315849" y="2444877"/>
                    <a:pt x="186944" y="2444877"/>
                    <a:pt x="107315" y="2365883"/>
                  </a:cubicBezTo>
                  <a:lnTo>
                    <a:pt x="0" y="2258441"/>
                  </a:lnTo>
                  <a:lnTo>
                    <a:pt x="891286" y="1366393"/>
                  </a:lnTo>
                  <a:cubicBezTo>
                    <a:pt x="970788" y="1286891"/>
                    <a:pt x="970788" y="1157859"/>
                    <a:pt x="891286" y="1078357"/>
                  </a:cubicBezTo>
                  <a:lnTo>
                    <a:pt x="0" y="186944"/>
                  </a:lnTo>
                  <a:lnTo>
                    <a:pt x="107442" y="79502"/>
                  </a:lnTo>
                  <a:cubicBezTo>
                    <a:pt x="186944" y="0"/>
                    <a:pt x="315849" y="0"/>
                    <a:pt x="395478" y="79502"/>
                  </a:cubicBezTo>
                  <a:lnTo>
                    <a:pt x="1394714" y="1078357"/>
                  </a:lnTo>
                  <a:cubicBezTo>
                    <a:pt x="1474216" y="1157859"/>
                    <a:pt x="1474216" y="1286891"/>
                    <a:pt x="1394714" y="1366393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01480" y="1995347"/>
            <a:ext cx="325815" cy="605415"/>
            <a:chOff x="0" y="0"/>
            <a:chExt cx="406080" cy="75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-32385"/>
              <a:ext cx="446659" cy="842137"/>
            </a:xfrm>
            <a:custGeom>
              <a:avLst/>
              <a:gdLst/>
              <a:ahLst/>
              <a:cxnLst/>
              <a:rect r="r" b="b" t="t" l="l"/>
              <a:pathLst>
                <a:path h="842137" w="446659">
                  <a:moveTo>
                    <a:pt x="350393" y="246126"/>
                  </a:moveTo>
                  <a:lnTo>
                    <a:pt x="165354" y="60960"/>
                  </a:lnTo>
                  <a:cubicBezTo>
                    <a:pt x="104394" y="0"/>
                    <a:pt x="0" y="42926"/>
                    <a:pt x="0" y="129413"/>
                  </a:cubicBezTo>
                  <a:lnTo>
                    <a:pt x="0" y="712724"/>
                  </a:lnTo>
                  <a:cubicBezTo>
                    <a:pt x="0" y="799211"/>
                    <a:pt x="104394" y="842137"/>
                    <a:pt x="165354" y="781177"/>
                  </a:cubicBezTo>
                  <a:lnTo>
                    <a:pt x="350393" y="596138"/>
                  </a:lnTo>
                  <a:cubicBezTo>
                    <a:pt x="446659" y="499237"/>
                    <a:pt x="446659" y="342519"/>
                    <a:pt x="350393" y="246126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07654" y="1519911"/>
            <a:ext cx="5916664" cy="1537801"/>
            <a:chOff x="0" y="0"/>
            <a:chExt cx="7374240" cy="1916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31151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837565"/>
                  </a:lnTo>
                  <a:cubicBezTo>
                    <a:pt x="877316" y="877062"/>
                    <a:pt x="897636" y="929386"/>
                    <a:pt x="897636" y="981583"/>
                  </a:cubicBezTo>
                  <a:cubicBezTo>
                    <a:pt x="897636" y="1033780"/>
                    <a:pt x="877951" y="1085596"/>
                    <a:pt x="837819" y="1125601"/>
                  </a:cubicBezTo>
                  <a:lnTo>
                    <a:pt x="635" y="1963166"/>
                  </a:lnTo>
                  <a:lnTo>
                    <a:pt x="6464427" y="1963166"/>
                  </a:lnTo>
                  <a:lnTo>
                    <a:pt x="7431151" y="981583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14512" y="3230440"/>
            <a:ext cx="1165193" cy="1910409"/>
            <a:chOff x="0" y="0"/>
            <a:chExt cx="1452240" cy="2381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9685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78994" y="1078484"/>
                  </a:moveTo>
                  <a:lnTo>
                    <a:pt x="1078611" y="78994"/>
                  </a:lnTo>
                  <a:cubicBezTo>
                    <a:pt x="1158240" y="0"/>
                    <a:pt x="1287145" y="0"/>
                    <a:pt x="1366774" y="78994"/>
                  </a:cubicBezTo>
                  <a:lnTo>
                    <a:pt x="1474216" y="186436"/>
                  </a:lnTo>
                  <a:lnTo>
                    <a:pt x="582549" y="1078484"/>
                  </a:lnTo>
                  <a:cubicBezTo>
                    <a:pt x="502920" y="1157986"/>
                    <a:pt x="502920" y="1287018"/>
                    <a:pt x="582549" y="1366520"/>
                  </a:cubicBezTo>
                  <a:lnTo>
                    <a:pt x="1474216" y="2257933"/>
                  </a:lnTo>
                  <a:lnTo>
                    <a:pt x="1366774" y="2365375"/>
                  </a:lnTo>
                  <a:cubicBezTo>
                    <a:pt x="1287145" y="2444877"/>
                    <a:pt x="1158240" y="2444877"/>
                    <a:pt x="1078611" y="2365375"/>
                  </a:cubicBezTo>
                  <a:lnTo>
                    <a:pt x="78994" y="1366012"/>
                  </a:lnTo>
                  <a:cubicBezTo>
                    <a:pt x="0" y="1286510"/>
                    <a:pt x="0" y="1158113"/>
                    <a:pt x="78994" y="107848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01958" y="3883226"/>
            <a:ext cx="325815" cy="605415"/>
            <a:chOff x="0" y="0"/>
            <a:chExt cx="406080" cy="75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-24257" y="-32385"/>
              <a:ext cx="447294" cy="842264"/>
            </a:xfrm>
            <a:custGeom>
              <a:avLst/>
              <a:gdLst/>
              <a:ahLst/>
              <a:cxnLst/>
              <a:rect r="r" b="b" t="t" l="l"/>
              <a:pathLst>
                <a:path h="842264" w="447294">
                  <a:moveTo>
                    <a:pt x="96901" y="596138"/>
                  </a:moveTo>
                  <a:lnTo>
                    <a:pt x="281940" y="781304"/>
                  </a:lnTo>
                  <a:cubicBezTo>
                    <a:pt x="342900" y="842264"/>
                    <a:pt x="447294" y="799338"/>
                    <a:pt x="447294" y="712851"/>
                  </a:cubicBezTo>
                  <a:lnTo>
                    <a:pt x="447294" y="129413"/>
                  </a:lnTo>
                  <a:cubicBezTo>
                    <a:pt x="447294" y="42926"/>
                    <a:pt x="342900" y="0"/>
                    <a:pt x="281940" y="60960"/>
                  </a:cubicBezTo>
                  <a:lnTo>
                    <a:pt x="96901" y="246126"/>
                  </a:lnTo>
                  <a:cubicBezTo>
                    <a:pt x="0" y="343027"/>
                    <a:pt x="0" y="499237"/>
                    <a:pt x="96901" y="59613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70275" y="3407790"/>
            <a:ext cx="5918974" cy="1537801"/>
            <a:chOff x="0" y="0"/>
            <a:chExt cx="7377120" cy="1916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4580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4580">
                  <a:moveTo>
                    <a:pt x="967105" y="1963166"/>
                  </a:moveTo>
                  <a:lnTo>
                    <a:pt x="7434580" y="1963166"/>
                  </a:lnTo>
                  <a:lnTo>
                    <a:pt x="6596380" y="1125601"/>
                  </a:lnTo>
                  <a:cubicBezTo>
                    <a:pt x="6556883" y="1086104"/>
                    <a:pt x="6536563" y="1033780"/>
                    <a:pt x="6536563" y="981583"/>
                  </a:cubicBezTo>
                  <a:cubicBezTo>
                    <a:pt x="6536563" y="929386"/>
                    <a:pt x="6556375" y="877570"/>
                    <a:pt x="6596380" y="837565"/>
                  </a:cubicBezTo>
                  <a:lnTo>
                    <a:pt x="7434072" y="0"/>
                  </a:lnTo>
                  <a:lnTo>
                    <a:pt x="967105" y="0"/>
                  </a:lnTo>
                  <a:lnTo>
                    <a:pt x="0" y="980948"/>
                  </a:lnTo>
                  <a:lnTo>
                    <a:pt x="967105" y="1963039"/>
                  </a:ln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09182" y="5460012"/>
            <a:ext cx="1164616" cy="1910409"/>
            <a:chOff x="0" y="0"/>
            <a:chExt cx="1451520" cy="2381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1394587" y="1366393"/>
                  </a:moveTo>
                  <a:lnTo>
                    <a:pt x="395351" y="2365883"/>
                  </a:lnTo>
                  <a:cubicBezTo>
                    <a:pt x="315849" y="2444877"/>
                    <a:pt x="186944" y="2444877"/>
                    <a:pt x="107315" y="2365883"/>
                  </a:cubicBezTo>
                  <a:lnTo>
                    <a:pt x="0" y="2258441"/>
                  </a:lnTo>
                  <a:lnTo>
                    <a:pt x="891286" y="1366393"/>
                  </a:lnTo>
                  <a:cubicBezTo>
                    <a:pt x="970788" y="1286891"/>
                    <a:pt x="970788" y="1157859"/>
                    <a:pt x="891286" y="1078357"/>
                  </a:cubicBezTo>
                  <a:lnTo>
                    <a:pt x="0" y="186944"/>
                  </a:lnTo>
                  <a:lnTo>
                    <a:pt x="107442" y="79502"/>
                  </a:lnTo>
                  <a:cubicBezTo>
                    <a:pt x="186944" y="0"/>
                    <a:pt x="315849" y="0"/>
                    <a:pt x="395478" y="79502"/>
                  </a:cubicBezTo>
                  <a:lnTo>
                    <a:pt x="1394714" y="1078357"/>
                  </a:lnTo>
                  <a:cubicBezTo>
                    <a:pt x="1474216" y="1157859"/>
                    <a:pt x="1474216" y="1286891"/>
                    <a:pt x="1394714" y="1366393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9560" y="6112798"/>
            <a:ext cx="325815" cy="605415"/>
            <a:chOff x="0" y="0"/>
            <a:chExt cx="406080" cy="75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-32385"/>
              <a:ext cx="446659" cy="842137"/>
            </a:xfrm>
            <a:custGeom>
              <a:avLst/>
              <a:gdLst/>
              <a:ahLst/>
              <a:cxnLst/>
              <a:rect r="r" b="b" t="t" l="l"/>
              <a:pathLst>
                <a:path h="842137" w="446659">
                  <a:moveTo>
                    <a:pt x="350393" y="246126"/>
                  </a:moveTo>
                  <a:lnTo>
                    <a:pt x="165354" y="60960"/>
                  </a:lnTo>
                  <a:cubicBezTo>
                    <a:pt x="104394" y="0"/>
                    <a:pt x="0" y="42926"/>
                    <a:pt x="0" y="129413"/>
                  </a:cubicBezTo>
                  <a:lnTo>
                    <a:pt x="0" y="712724"/>
                  </a:lnTo>
                  <a:cubicBezTo>
                    <a:pt x="0" y="799211"/>
                    <a:pt x="104394" y="842137"/>
                    <a:pt x="165354" y="781177"/>
                  </a:cubicBezTo>
                  <a:lnTo>
                    <a:pt x="350393" y="596138"/>
                  </a:lnTo>
                  <a:cubicBezTo>
                    <a:pt x="446659" y="499237"/>
                    <a:pt x="446659" y="342519"/>
                    <a:pt x="350393" y="246126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55734" y="5637362"/>
            <a:ext cx="5916664" cy="1537801"/>
            <a:chOff x="0" y="0"/>
            <a:chExt cx="7374240" cy="1916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1151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837565"/>
                  </a:lnTo>
                  <a:cubicBezTo>
                    <a:pt x="877316" y="877062"/>
                    <a:pt x="897636" y="929386"/>
                    <a:pt x="897636" y="981583"/>
                  </a:cubicBezTo>
                  <a:cubicBezTo>
                    <a:pt x="897636" y="1033780"/>
                    <a:pt x="877951" y="1085596"/>
                    <a:pt x="837819" y="1125601"/>
                  </a:cubicBezTo>
                  <a:lnTo>
                    <a:pt x="635" y="1963166"/>
                  </a:lnTo>
                  <a:lnTo>
                    <a:pt x="6464427" y="1963166"/>
                  </a:lnTo>
                  <a:lnTo>
                    <a:pt x="7431151" y="981583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762591" y="7347891"/>
            <a:ext cx="1165193" cy="1910409"/>
            <a:chOff x="0" y="0"/>
            <a:chExt cx="1452240" cy="2381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9685" y="-19812"/>
              <a:ext cx="1474216" cy="2444877"/>
            </a:xfrm>
            <a:custGeom>
              <a:avLst/>
              <a:gdLst/>
              <a:ahLst/>
              <a:cxnLst/>
              <a:rect r="r" b="b" t="t" l="l"/>
              <a:pathLst>
                <a:path h="2444877" w="1474216">
                  <a:moveTo>
                    <a:pt x="78994" y="1078484"/>
                  </a:moveTo>
                  <a:lnTo>
                    <a:pt x="1078611" y="78994"/>
                  </a:lnTo>
                  <a:cubicBezTo>
                    <a:pt x="1158240" y="0"/>
                    <a:pt x="1287145" y="0"/>
                    <a:pt x="1366774" y="78994"/>
                  </a:cubicBezTo>
                  <a:lnTo>
                    <a:pt x="1474216" y="186436"/>
                  </a:lnTo>
                  <a:lnTo>
                    <a:pt x="582549" y="1078484"/>
                  </a:lnTo>
                  <a:cubicBezTo>
                    <a:pt x="502920" y="1157986"/>
                    <a:pt x="502920" y="1287018"/>
                    <a:pt x="582549" y="1366520"/>
                  </a:cubicBezTo>
                  <a:lnTo>
                    <a:pt x="1474216" y="2257933"/>
                  </a:lnTo>
                  <a:lnTo>
                    <a:pt x="1366774" y="2365375"/>
                  </a:lnTo>
                  <a:cubicBezTo>
                    <a:pt x="1287145" y="2444877"/>
                    <a:pt x="1158240" y="2444877"/>
                    <a:pt x="1078611" y="2365375"/>
                  </a:cubicBezTo>
                  <a:lnTo>
                    <a:pt x="78994" y="1366012"/>
                  </a:lnTo>
                  <a:cubicBezTo>
                    <a:pt x="0" y="1286510"/>
                    <a:pt x="0" y="1158113"/>
                    <a:pt x="78994" y="1078484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450038" y="8000677"/>
            <a:ext cx="325815" cy="605415"/>
            <a:chOff x="0" y="0"/>
            <a:chExt cx="406080" cy="75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24257" y="-32385"/>
              <a:ext cx="447294" cy="842264"/>
            </a:xfrm>
            <a:custGeom>
              <a:avLst/>
              <a:gdLst/>
              <a:ahLst/>
              <a:cxnLst/>
              <a:rect r="r" b="b" t="t" l="l"/>
              <a:pathLst>
                <a:path h="842264" w="447294">
                  <a:moveTo>
                    <a:pt x="96901" y="596138"/>
                  </a:moveTo>
                  <a:lnTo>
                    <a:pt x="281940" y="781304"/>
                  </a:lnTo>
                  <a:cubicBezTo>
                    <a:pt x="342900" y="842264"/>
                    <a:pt x="447294" y="799338"/>
                    <a:pt x="447294" y="712851"/>
                  </a:cubicBezTo>
                  <a:lnTo>
                    <a:pt x="447294" y="129413"/>
                  </a:lnTo>
                  <a:cubicBezTo>
                    <a:pt x="447294" y="42926"/>
                    <a:pt x="342900" y="0"/>
                    <a:pt x="281940" y="60960"/>
                  </a:cubicBezTo>
                  <a:lnTo>
                    <a:pt x="96901" y="246126"/>
                  </a:lnTo>
                  <a:cubicBezTo>
                    <a:pt x="0" y="343027"/>
                    <a:pt x="0" y="499237"/>
                    <a:pt x="96901" y="596138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518354" y="7525241"/>
            <a:ext cx="5918974" cy="1537801"/>
            <a:chOff x="0" y="0"/>
            <a:chExt cx="7377120" cy="1916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4580" cy="1963166"/>
            </a:xfrm>
            <a:custGeom>
              <a:avLst/>
              <a:gdLst/>
              <a:ahLst/>
              <a:cxnLst/>
              <a:rect r="r" b="b" t="t" l="l"/>
              <a:pathLst>
                <a:path h="1963166" w="7434580">
                  <a:moveTo>
                    <a:pt x="967105" y="1963166"/>
                  </a:moveTo>
                  <a:lnTo>
                    <a:pt x="7434580" y="1963166"/>
                  </a:lnTo>
                  <a:lnTo>
                    <a:pt x="6596380" y="1125601"/>
                  </a:lnTo>
                  <a:cubicBezTo>
                    <a:pt x="6556883" y="1086104"/>
                    <a:pt x="6536563" y="1033780"/>
                    <a:pt x="6536563" y="981583"/>
                  </a:cubicBezTo>
                  <a:cubicBezTo>
                    <a:pt x="6536563" y="929386"/>
                    <a:pt x="6556375" y="877570"/>
                    <a:pt x="6596380" y="837565"/>
                  </a:cubicBezTo>
                  <a:lnTo>
                    <a:pt x="7434072" y="0"/>
                  </a:lnTo>
                  <a:lnTo>
                    <a:pt x="967105" y="0"/>
                  </a:lnTo>
                  <a:lnTo>
                    <a:pt x="0" y="980948"/>
                  </a:lnTo>
                  <a:lnTo>
                    <a:pt x="967105" y="1963039"/>
                  </a:lnTo>
                  <a:close/>
                </a:path>
              </a:pathLst>
            </a:custGeom>
            <a:solidFill>
              <a:srgbClr val="397D5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83440" y="677498"/>
            <a:ext cx="5605439" cy="106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06"/>
              </a:lnSpc>
              <a:spcBef>
                <a:spcPct val="0"/>
              </a:spcBef>
            </a:pPr>
            <a:r>
              <a:rPr lang="en-US" sz="5946" spc="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82893" y="1975324"/>
            <a:ext cx="4314835" cy="107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86" spc="20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Increasing need for secure file storage &amp; sharing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6363363" y="1881047"/>
            <a:ext cx="979531" cy="77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79705" y="3743163"/>
            <a:ext cx="979531" cy="77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781485" y="5902849"/>
            <a:ext cx="3636065" cy="104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0"/>
              </a:lnSpc>
              <a:spcBef>
                <a:spcPct val="0"/>
              </a:spcBef>
            </a:pPr>
            <a:r>
              <a:rPr lang="en-US" sz="2058" spc="20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Blockchain + IPFS → decentralized, tamper-proof solution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211443" y="5998498"/>
            <a:ext cx="979531" cy="77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27784" y="7860614"/>
            <a:ext cx="979531" cy="77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78447" y="3624526"/>
            <a:ext cx="3636065" cy="109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78"/>
              </a:lnSpc>
              <a:spcBef>
                <a:spcPct val="0"/>
              </a:spcBef>
            </a:pPr>
            <a:r>
              <a:rPr lang="en-US" sz="2158" spc="2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Traditional cloud storage → centralized, risk of tampering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63452" y="7846671"/>
            <a:ext cx="3636065" cy="104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40"/>
              </a:lnSpc>
              <a:spcBef>
                <a:spcPct val="0"/>
              </a:spcBef>
            </a:pPr>
            <a:r>
              <a:rPr lang="en-US" sz="2058" spc="20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Goal: File Integrity, Ownership, and Secure Sharing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3972" y="1984849"/>
            <a:ext cx="3934942" cy="150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5"/>
              </a:lnSpc>
              <a:spcBef>
                <a:spcPct val="0"/>
              </a:spcBef>
            </a:pPr>
            <a:r>
              <a:rPr lang="en-US" sz="1779" spc="17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Blockchain + IPFS helps us create a decentralized system where no single authority controls the files, ensuring trust and integrity.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2602" y="1254936"/>
            <a:ext cx="5957427" cy="10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6"/>
              </a:lnSpc>
              <a:spcBef>
                <a:spcPct val="0"/>
              </a:spcBef>
            </a:pPr>
            <a:r>
              <a:rPr lang="en-US" b="true" sz="5765" spc="565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82178" y="3540755"/>
            <a:ext cx="4482343" cy="176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1689" spc="16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Ensure File Integrity</a:t>
            </a:r>
          </a:p>
          <a:p>
            <a:pPr algn="l" marL="364704" indent="-182352" lvl="1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1689" spc="16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Verify that uploaded files remain untampered using cryptographic hash values stored on blockchain.</a:t>
            </a:r>
          </a:p>
          <a:p>
            <a:pPr algn="l" marL="0" indent="0" lvl="0">
              <a:lnSpc>
                <a:spcPts val="2331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82178" y="3002323"/>
            <a:ext cx="2505484" cy="40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  <a:spcBef>
                <a:spcPct val="0"/>
              </a:spcBef>
            </a:pPr>
            <a:r>
              <a:rPr lang="en-US" b="true" sz="2418" spc="236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2178" y="5777356"/>
            <a:ext cx="4482343" cy="150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789" spc="17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Enable Secure File Sharing</a:t>
            </a:r>
          </a:p>
          <a:p>
            <a:pPr algn="l" marL="364704" indent="-182352" lvl="1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1689" spc="16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Provide controlled and permission-based file access using smart contracts.</a:t>
            </a:r>
          </a:p>
          <a:p>
            <a:pPr algn="l" marL="0" indent="0" lvl="0">
              <a:lnSpc>
                <a:spcPts val="260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12602" y="5261842"/>
            <a:ext cx="3465904" cy="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318" spc="227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2602" y="7857179"/>
            <a:ext cx="4482343" cy="139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5"/>
              </a:lnSpc>
            </a:pPr>
            <a:r>
              <a:rPr lang="en-US" sz="1489" spc="14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Decentralize File Storage</a:t>
            </a:r>
          </a:p>
          <a:p>
            <a:pPr algn="l" marL="364704" indent="-182352" lvl="1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1689" spc="16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Use IPFS to store files across distributed nodes instead of centralized servers.</a:t>
            </a:r>
          </a:p>
          <a:p>
            <a:pPr algn="l" marL="0" indent="0" lvl="0">
              <a:lnSpc>
                <a:spcPts val="205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30708" y="3011848"/>
            <a:ext cx="3465904" cy="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318" spc="227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17192" y="5777356"/>
            <a:ext cx="4482343" cy="135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589" spc="15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Maintain Transparent Access Logs</a:t>
            </a:r>
          </a:p>
          <a:p>
            <a:pPr algn="l" marL="343114" indent="-171557" lvl="1">
              <a:lnSpc>
                <a:spcPts val="2193"/>
              </a:lnSpc>
              <a:spcBef>
                <a:spcPct val="0"/>
              </a:spcBef>
              <a:buFont typeface="Arial"/>
              <a:buChar char="•"/>
            </a:pPr>
            <a:r>
              <a:rPr lang="en-US" sz="1589" spc="15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Record immutable history of file uploads, access requests, and permissions on blockchain.</a:t>
            </a:r>
          </a:p>
          <a:p>
            <a:pPr algn="l" marL="0" indent="0" lvl="0">
              <a:lnSpc>
                <a:spcPts val="205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82178" y="7328272"/>
            <a:ext cx="3465904" cy="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318" spc="227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03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22124" y="7754894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-2059222" y="-798391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4118444" y="3654182"/>
                </a:moveTo>
                <a:lnTo>
                  <a:pt x="0" y="3654182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17192" y="5189013"/>
            <a:ext cx="3465904" cy="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318" spc="227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7192" y="3540755"/>
            <a:ext cx="4482343" cy="135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589" spc="15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Enhance Data Ownership &amp; Privacy</a:t>
            </a:r>
          </a:p>
          <a:p>
            <a:pPr algn="l" marL="343114" indent="-171557" lvl="1">
              <a:lnSpc>
                <a:spcPts val="2193"/>
              </a:lnSpc>
              <a:spcBef>
                <a:spcPct val="0"/>
              </a:spcBef>
              <a:buFont typeface="Arial"/>
              <a:buChar char="•"/>
            </a:pPr>
            <a:r>
              <a:rPr lang="en-US" sz="1589" spc="15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Allow users to fully control their files and manage access without third-party dependence.</a:t>
            </a:r>
          </a:p>
          <a:p>
            <a:pPr algn="l" marL="0" indent="0" lvl="0">
              <a:lnSpc>
                <a:spcPts val="205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917192" y="7378387"/>
            <a:ext cx="3465904" cy="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318" spc="227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7192" y="7857179"/>
            <a:ext cx="4482343" cy="135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589" spc="15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Support File Encryption</a:t>
            </a:r>
          </a:p>
          <a:p>
            <a:pPr algn="l" marL="343114" indent="-171557" lvl="1">
              <a:lnSpc>
                <a:spcPts val="2193"/>
              </a:lnSpc>
              <a:spcBef>
                <a:spcPct val="0"/>
              </a:spcBef>
              <a:buFont typeface="Arial"/>
              <a:buChar char="•"/>
            </a:pPr>
            <a:r>
              <a:rPr lang="en-US" sz="1589" spc="15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Add AES encryption before upload so that even if IPFS link leaks, files remain confidential.</a:t>
            </a:r>
          </a:p>
          <a:p>
            <a:pPr algn="l" marL="0" indent="0" lvl="0">
              <a:lnSpc>
                <a:spcPts val="20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9326" y="0"/>
            <a:ext cx="18909647" cy="2516127"/>
            <a:chOff x="0" y="0"/>
            <a:chExt cx="4980319" cy="6626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0318" cy="662684"/>
            </a:xfrm>
            <a:custGeom>
              <a:avLst/>
              <a:gdLst/>
              <a:ahLst/>
              <a:cxnLst/>
              <a:rect r="r" b="b" t="t" l="l"/>
              <a:pathLst>
                <a:path h="662684" w="4980318">
                  <a:moveTo>
                    <a:pt x="0" y="0"/>
                  </a:moveTo>
                  <a:lnTo>
                    <a:pt x="4980318" y="0"/>
                  </a:lnTo>
                  <a:lnTo>
                    <a:pt x="4980318" y="662684"/>
                  </a:lnTo>
                  <a:lnTo>
                    <a:pt x="0" y="662684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980319" cy="681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87179" y="612686"/>
            <a:ext cx="10713642" cy="135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2"/>
              </a:lnSpc>
            </a:pPr>
            <a:r>
              <a:rPr lang="en-US" sz="7588" spc="7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LITERATURE SURVEY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820159" y="3818732"/>
          <a:ext cx="5029200" cy="838200"/>
        </p:xfrm>
        <a:graphic>
          <a:graphicData uri="http://schemas.openxmlformats.org/presentationml/2006/ole">
            <p:oleObj imgW="6032500" imgH="1841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90980" y="1165611"/>
            <a:ext cx="10713642" cy="135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2"/>
              </a:lnSpc>
            </a:pPr>
            <a:r>
              <a:rPr lang="en-US" sz="7588" spc="7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LITERATURE SURVEY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196242" y="1028700"/>
          <a:ext cx="5029200" cy="838200"/>
        </p:xfrm>
        <a:graphic>
          <a:graphicData uri="http://schemas.openxmlformats.org/presentationml/2006/ole">
            <p:oleObj imgW="6032500" imgH="1841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100043" y="1028700"/>
          <a:ext cx="5029200" cy="838200"/>
        </p:xfrm>
        <a:graphic>
          <a:graphicData uri="http://schemas.openxmlformats.org/presentationml/2006/ole">
            <p:oleObj imgW="6032500" imgH="1841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9663" y="603771"/>
            <a:ext cx="7845600" cy="83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62"/>
              </a:lnSpc>
              <a:spcBef>
                <a:spcPct val="0"/>
              </a:spcBef>
            </a:pPr>
            <a:r>
              <a:rPr lang="en-US" b="true" sz="5921" spc="207">
                <a:solidFill>
                  <a:srgbClr val="040506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4294" y="2446489"/>
            <a:ext cx="12115927" cy="55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735" indent="-233867" lvl="1">
              <a:lnSpc>
                <a:spcPts val="2989"/>
              </a:lnSpc>
              <a:buFont typeface="Arial"/>
              <a:buChar char="•"/>
            </a:pPr>
            <a:r>
              <a:rPr lang="en-US" b="true" sz="2166" spc="212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Large Files Issues</a:t>
            </a:r>
          </a:p>
          <a:p>
            <a:pPr algn="l">
              <a:lnSpc>
                <a:spcPts val="2989"/>
              </a:lnSpc>
            </a:pPr>
            <a:r>
              <a:rPr lang="en-US" sz="2166" spc="212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66" spc="212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Blockchain networks have limited storage system when dealing with large.</a:t>
            </a:r>
          </a:p>
          <a:p>
            <a:pPr algn="l">
              <a:lnSpc>
                <a:spcPts val="2989"/>
              </a:lnSpc>
            </a:pPr>
          </a:p>
          <a:p>
            <a:pPr algn="l" marL="467735" indent="-233867" lvl="1">
              <a:lnSpc>
                <a:spcPts val="2989"/>
              </a:lnSpc>
              <a:buFont typeface="Arial"/>
              <a:buChar char="•"/>
            </a:pPr>
            <a:r>
              <a:rPr lang="en-US" b="true" sz="2166" spc="212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Efficient File Versioning</a:t>
            </a:r>
          </a:p>
          <a:p>
            <a:pPr algn="l">
              <a:lnSpc>
                <a:spcPts val="2989"/>
              </a:lnSpc>
            </a:pPr>
            <a:r>
              <a:rPr lang="en-US" sz="2166" spc="212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Limited work on handling multiple versions of files with blockchain audit trails.</a:t>
            </a:r>
          </a:p>
          <a:p>
            <a:pPr algn="l">
              <a:lnSpc>
                <a:spcPts val="2989"/>
              </a:lnSpc>
            </a:pPr>
          </a:p>
          <a:p>
            <a:pPr algn="l" marL="467735" indent="-233867" lvl="1">
              <a:lnSpc>
                <a:spcPts val="2989"/>
              </a:lnSpc>
              <a:buFont typeface="Arial"/>
              <a:buChar char="•"/>
            </a:pPr>
            <a:r>
              <a:rPr lang="en-US" b="true" sz="2166" spc="212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Enhancements</a:t>
            </a:r>
          </a:p>
          <a:p>
            <a:pPr algn="l">
              <a:lnSpc>
                <a:spcPts val="2989"/>
              </a:lnSpc>
            </a:pPr>
            <a:r>
              <a:rPr lang="en-US" sz="2166" spc="212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No </a:t>
            </a:r>
            <a:r>
              <a:rPr lang="en-US" sz="2166" spc="212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encryption before IPFS upload for stronger confidentiality.</a:t>
            </a:r>
          </a:p>
          <a:p>
            <a:pPr algn="l">
              <a:lnSpc>
                <a:spcPts val="2989"/>
              </a:lnSpc>
            </a:pPr>
          </a:p>
          <a:p>
            <a:pPr algn="l" marL="467735" indent="-233867" lvl="1">
              <a:lnSpc>
                <a:spcPts val="2989"/>
              </a:lnSpc>
              <a:buFont typeface="Arial"/>
              <a:buChar char="•"/>
            </a:pPr>
            <a:r>
              <a:rPr lang="en-US" b="true" sz="2166" spc="212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 with Wallet-Based Authentication</a:t>
            </a:r>
          </a:p>
          <a:p>
            <a:pPr algn="l">
              <a:lnSpc>
                <a:spcPts val="2989"/>
              </a:lnSpc>
            </a:pPr>
            <a:r>
              <a:rPr lang="en-US" sz="2166" spc="212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Research has focused on integrity, but secure user authentication (e.g., MetaMask/WalletConnect) is underexplored.</a:t>
            </a: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900" y="9404862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76043" y="-2524707"/>
            <a:ext cx="3964049" cy="396404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752828" y="-6405764"/>
            <a:ext cx="9348363" cy="9348363"/>
          </a:xfrm>
          <a:custGeom>
            <a:avLst/>
            <a:gdLst/>
            <a:ahLst/>
            <a:cxnLst/>
            <a:rect r="r" b="b" t="t" l="l"/>
            <a:pathLst>
              <a:path h="9348363" w="9348363">
                <a:moveTo>
                  <a:pt x="0" y="0"/>
                </a:moveTo>
                <a:lnTo>
                  <a:pt x="9348362" y="0"/>
                </a:lnTo>
                <a:lnTo>
                  <a:pt x="9348362" y="9348362"/>
                </a:lnTo>
                <a:lnTo>
                  <a:pt x="0" y="9348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904968" y="8918951"/>
            <a:ext cx="2649263" cy="264926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8002" y="0"/>
            <a:ext cx="19048322" cy="3086100"/>
            <a:chOff x="0" y="0"/>
            <a:chExt cx="501684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842" cy="812800"/>
            </a:xfrm>
            <a:custGeom>
              <a:avLst/>
              <a:gdLst/>
              <a:ahLst/>
              <a:cxnLst/>
              <a:rect r="r" b="b" t="t" l="l"/>
              <a:pathLst>
                <a:path h="812800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016842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 descr="Orbit - striped circle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bit - striped circle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Orbit - striped circle"/>
          <p:cNvSpPr/>
          <p:nvPr/>
        </p:nvSpPr>
        <p:spPr>
          <a:xfrm flipH="false" flipV="false" rot="0">
            <a:off x="1894459" y="-2227387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6" y="0"/>
                </a:lnTo>
                <a:lnTo>
                  <a:pt x="3256086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Orbit - striped circle"/>
          <p:cNvSpPr/>
          <p:nvPr/>
        </p:nvSpPr>
        <p:spPr>
          <a:xfrm flipH="false" flipV="false" rot="0">
            <a:off x="12479851" y="1963203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6"/>
                </a:lnTo>
                <a:lnTo>
                  <a:pt x="0" y="3256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62001" y="4286050"/>
            <a:ext cx="13134939" cy="4747150"/>
            <a:chOff x="0" y="0"/>
            <a:chExt cx="17513252" cy="6329533"/>
          </a:xfrm>
        </p:grpSpPr>
        <p:sp>
          <p:nvSpPr>
            <p:cNvPr name="AutoShape 10" id="10"/>
            <p:cNvSpPr/>
            <p:nvPr/>
          </p:nvSpPr>
          <p:spPr>
            <a:xfrm>
              <a:off x="0" y="986877"/>
              <a:ext cx="17513252" cy="0"/>
            </a:xfrm>
            <a:prstGeom prst="line">
              <a:avLst/>
            </a:prstGeom>
            <a:ln cap="flat" w="12700">
              <a:solidFill>
                <a:srgbClr val="1C573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2439086"/>
              <a:ext cx="17513252" cy="0"/>
            </a:xfrm>
            <a:prstGeom prst="line">
              <a:avLst/>
            </a:prstGeom>
            <a:ln cap="flat" w="12700">
              <a:solidFill>
                <a:srgbClr val="1C573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3891294"/>
              <a:ext cx="17513252" cy="0"/>
            </a:xfrm>
            <a:prstGeom prst="line">
              <a:avLst/>
            </a:prstGeom>
            <a:ln cap="flat" w="12700">
              <a:solidFill>
                <a:srgbClr val="1C573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5343502"/>
              <a:ext cx="17513252" cy="0"/>
            </a:xfrm>
            <a:prstGeom prst="line">
              <a:avLst/>
            </a:prstGeom>
            <a:ln cap="flat" w="12700">
              <a:solidFill>
                <a:srgbClr val="1C573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374203" y="9525"/>
              <a:ext cx="14315533" cy="511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Peer-to-Peer (P2P) distributed file system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74203" y="2913942"/>
              <a:ext cx="14315533" cy="511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Decentralized – no central server, data fetched from nearest peers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74203" y="5818358"/>
              <a:ext cx="14315533" cy="511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Faster &amp; efficient – retrieves files from multiple sources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74203" y="1461733"/>
              <a:ext cx="14315533" cy="511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Uses content-based addressing (via unique hash called CID)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74203" y="4366150"/>
              <a:ext cx="14315533" cy="511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Tamper-proof – hash ensures data integrity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70304" y="5219289"/>
            <a:ext cx="4418832" cy="2533464"/>
          </a:xfrm>
          <a:custGeom>
            <a:avLst/>
            <a:gdLst/>
            <a:ahLst/>
            <a:cxnLst/>
            <a:rect r="r" b="b" t="t" l="l"/>
            <a:pathLst>
              <a:path h="2533464" w="4418832">
                <a:moveTo>
                  <a:pt x="0" y="0"/>
                </a:moveTo>
                <a:lnTo>
                  <a:pt x="4418832" y="0"/>
                </a:lnTo>
                <a:lnTo>
                  <a:pt x="4418832" y="2533464"/>
                </a:lnTo>
                <a:lnTo>
                  <a:pt x="0" y="253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124361" y="998220"/>
            <a:ext cx="13134939" cy="1774400"/>
            <a:chOff x="0" y="0"/>
            <a:chExt cx="17513252" cy="236586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9525"/>
              <a:ext cx="17513252" cy="1404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685">
                  <a:solidFill>
                    <a:srgbClr val="F5FF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Is IPFS?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43144"/>
              <a:ext cx="1751325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  <a:r>
                <a:rPr lang="en-US" sz="2800">
                  <a:solidFill>
                    <a:srgbClr val="F5FFF5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InterPlanetary File System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602" y="-365331"/>
            <a:ext cx="19048322" cy="2145774"/>
            <a:chOff x="0" y="0"/>
            <a:chExt cx="5016842" cy="565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842" cy="565142"/>
            </a:xfrm>
            <a:custGeom>
              <a:avLst/>
              <a:gdLst/>
              <a:ahLst/>
              <a:cxnLst/>
              <a:rect r="r" b="b" t="t" l="l"/>
              <a:pathLst>
                <a:path h="565142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565142"/>
                  </a:lnTo>
                  <a:lnTo>
                    <a:pt x="0" y="565142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016842" cy="584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 descr="Orbit - striped circle"/>
          <p:cNvSpPr/>
          <p:nvPr/>
        </p:nvSpPr>
        <p:spPr>
          <a:xfrm flipH="false" flipV="false" rot="0">
            <a:off x="15888338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Orbit - striped circle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Orbit - striped circle"/>
          <p:cNvSpPr/>
          <p:nvPr/>
        </p:nvSpPr>
        <p:spPr>
          <a:xfrm flipH="false" flipV="false" rot="0">
            <a:off x="12479851" y="1963203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6"/>
                </a:lnTo>
                <a:lnTo>
                  <a:pt x="0" y="3256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Orbit - striped circle"/>
          <p:cNvSpPr/>
          <p:nvPr/>
        </p:nvSpPr>
        <p:spPr>
          <a:xfrm flipH="false" flipV="false" rot="0">
            <a:off x="12632251" y="2115603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6"/>
                </a:lnTo>
                <a:lnTo>
                  <a:pt x="0" y="3256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55108" y="1780443"/>
            <a:ext cx="14159425" cy="8808427"/>
          </a:xfrm>
          <a:custGeom>
            <a:avLst/>
            <a:gdLst/>
            <a:ahLst/>
            <a:cxnLst/>
            <a:rect r="r" b="b" t="t" l="l"/>
            <a:pathLst>
              <a:path h="8808427" w="14159425">
                <a:moveTo>
                  <a:pt x="0" y="0"/>
                </a:moveTo>
                <a:lnTo>
                  <a:pt x="14159425" y="0"/>
                </a:lnTo>
                <a:lnTo>
                  <a:pt x="14159425" y="8808427"/>
                </a:lnTo>
                <a:lnTo>
                  <a:pt x="0" y="880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285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83529" y="406032"/>
            <a:ext cx="4222790" cy="8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5FFF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Sender’s Side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01346" y="406032"/>
            <a:ext cx="4998306" cy="8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5"/>
              </a:lnSpc>
            </a:pPr>
            <a:r>
              <a:rPr lang="en-US" b="true" sz="5075">
                <a:solidFill>
                  <a:srgbClr val="F5FFF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Receiver’s Side</a:t>
            </a:r>
          </a:p>
        </p:txBody>
      </p:sp>
      <p:sp>
        <p:nvSpPr>
          <p:cNvPr name="Freeform 12" id="12" descr="Orbit - striped circle"/>
          <p:cNvSpPr/>
          <p:nvPr/>
        </p:nvSpPr>
        <p:spPr>
          <a:xfrm flipH="false" flipV="false" rot="0">
            <a:off x="17063534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Orbit - striped circle"/>
          <p:cNvSpPr/>
          <p:nvPr/>
        </p:nvSpPr>
        <p:spPr>
          <a:xfrm flipH="false" flipV="false" rot="0">
            <a:off x="-2449979" y="15240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Orbit - striped circle"/>
          <p:cNvSpPr/>
          <p:nvPr/>
        </p:nvSpPr>
        <p:spPr>
          <a:xfrm flipH="false" flipV="false" rot="0">
            <a:off x="-2227387" y="8265732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Orbit - striped circle"/>
          <p:cNvSpPr/>
          <p:nvPr/>
        </p:nvSpPr>
        <p:spPr>
          <a:xfrm flipH="false" flipV="false" rot="0">
            <a:off x="17493668" y="3591246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86392" y="2384908"/>
            <a:ext cx="12162129" cy="6138156"/>
            <a:chOff x="0" y="0"/>
            <a:chExt cx="3203195" cy="16166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03195" cy="1616634"/>
            </a:xfrm>
            <a:custGeom>
              <a:avLst/>
              <a:gdLst/>
              <a:ahLst/>
              <a:cxnLst/>
              <a:rect r="r" b="b" t="t" l="l"/>
              <a:pathLst>
                <a:path h="1616634" w="3203195">
                  <a:moveTo>
                    <a:pt x="32465" y="0"/>
                  </a:moveTo>
                  <a:lnTo>
                    <a:pt x="3170730" y="0"/>
                  </a:lnTo>
                  <a:cubicBezTo>
                    <a:pt x="3179340" y="0"/>
                    <a:pt x="3187598" y="3420"/>
                    <a:pt x="3193686" y="9509"/>
                  </a:cubicBezTo>
                  <a:cubicBezTo>
                    <a:pt x="3199774" y="15597"/>
                    <a:pt x="3203195" y="23854"/>
                    <a:pt x="3203195" y="32465"/>
                  </a:cubicBezTo>
                  <a:lnTo>
                    <a:pt x="3203195" y="1584169"/>
                  </a:lnTo>
                  <a:cubicBezTo>
                    <a:pt x="3203195" y="1602099"/>
                    <a:pt x="3188660" y="1616634"/>
                    <a:pt x="3170730" y="1616634"/>
                  </a:cubicBezTo>
                  <a:lnTo>
                    <a:pt x="32465" y="1616634"/>
                  </a:lnTo>
                  <a:cubicBezTo>
                    <a:pt x="14535" y="1616634"/>
                    <a:pt x="0" y="1602099"/>
                    <a:pt x="0" y="1584169"/>
                  </a:cubicBezTo>
                  <a:lnTo>
                    <a:pt x="0" y="32465"/>
                  </a:lnTo>
                  <a:cubicBezTo>
                    <a:pt x="0" y="14535"/>
                    <a:pt x="14535" y="0"/>
                    <a:pt x="32465" y="0"/>
                  </a:cubicBezTo>
                  <a:close/>
                </a:path>
              </a:pathLst>
            </a:custGeom>
            <a:solidFill>
              <a:srgbClr val="F5FF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203195" cy="1635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01253" y="4036450"/>
            <a:ext cx="10685495" cy="448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742" indent="-329871" lvl="1">
              <a:lnSpc>
                <a:spcPts val="5164"/>
              </a:lnSpc>
              <a:buFont typeface="Arial"/>
              <a:buChar char="•"/>
            </a:pPr>
            <a:r>
              <a:rPr lang="en-US" sz="3055" spc="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Ethereum + Solidity → Smart Contracts</a:t>
            </a:r>
          </a:p>
          <a:p>
            <a:pPr algn="l" marL="659742" indent="-329871" lvl="1">
              <a:lnSpc>
                <a:spcPts val="5164"/>
              </a:lnSpc>
              <a:buFont typeface="Arial"/>
              <a:buChar char="•"/>
            </a:pPr>
            <a:r>
              <a:rPr lang="en-US" sz="3055" spc="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IPFS (InterPlanetary File System) → Decentralized File Storage</a:t>
            </a:r>
          </a:p>
          <a:p>
            <a:pPr algn="l" marL="659742" indent="-329871" lvl="1">
              <a:lnSpc>
                <a:spcPts val="5164"/>
              </a:lnSpc>
              <a:buFont typeface="Arial"/>
              <a:buChar char="•"/>
            </a:pPr>
            <a:r>
              <a:rPr lang="en-US" sz="3055" spc="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Web3.js + MetaMask → Blockchain interaction &amp; authentication</a:t>
            </a:r>
          </a:p>
          <a:p>
            <a:pPr algn="l" marL="659742" indent="-329871" lvl="1">
              <a:lnSpc>
                <a:spcPts val="5164"/>
              </a:lnSpc>
              <a:buFont typeface="Arial"/>
              <a:buChar char="•"/>
            </a:pPr>
            <a:r>
              <a:rPr lang="en-US" sz="3055" spc="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React.js / HTML &amp; CSS → User Interface</a:t>
            </a:r>
          </a:p>
          <a:p>
            <a:pPr algn="l">
              <a:lnSpc>
                <a:spcPts val="516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486747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6" y="6745495"/>
                </a:lnTo>
                <a:lnTo>
                  <a:pt x="7602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02434" y="2723137"/>
            <a:ext cx="5380368" cy="81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8"/>
              </a:lnSpc>
            </a:pPr>
            <a:r>
              <a:rPr lang="en-US" b="true" sz="5684" spc="1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7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7132" y="2623628"/>
            <a:ext cx="13313735" cy="5325494"/>
          </a:xfrm>
          <a:custGeom>
            <a:avLst/>
            <a:gdLst/>
            <a:ahLst/>
            <a:cxnLst/>
            <a:rect r="r" b="b" t="t" l="l"/>
            <a:pathLst>
              <a:path h="5325494" w="13313735">
                <a:moveTo>
                  <a:pt x="0" y="0"/>
                </a:moveTo>
                <a:lnTo>
                  <a:pt x="13313736" y="0"/>
                </a:lnTo>
                <a:lnTo>
                  <a:pt x="13313736" y="5325494"/>
                </a:lnTo>
                <a:lnTo>
                  <a:pt x="0" y="53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2901" y="3730499"/>
            <a:ext cx="14302199" cy="2826002"/>
            <a:chOff x="0" y="0"/>
            <a:chExt cx="19069598" cy="376800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57175"/>
              <a:ext cx="19069598" cy="2418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199"/>
                </a:lnSpc>
              </a:pPr>
              <a:r>
                <a:rPr lang="en-US" b="true" sz="13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 You!!!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09483"/>
              <a:ext cx="19069598" cy="858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DAGwlbT5MdM</dc:identifier>
  <dcterms:modified xsi:type="dcterms:W3CDTF">2011-08-01T06:04:30Z</dcterms:modified>
  <cp:revision>1</cp:revision>
  <dc:title>Green minimalist professional Business Proposal Presentation</dc:title>
</cp:coreProperties>
</file>